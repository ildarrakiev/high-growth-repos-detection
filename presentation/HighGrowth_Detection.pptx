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Hi. We're Team A. Our project is called High-Growth Repositories Detection. Let me start with one example.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repository had nine stars in December twenty twenty-three. Six months later — over a thousand. Whoever found it early had a six-month head start. Could a machine have flagged it in advance? That's what we built.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GitHub has more than a hundred million repositories. Most never get traction. Investors and recruiters want to find the small fraction that will. Existing tools rank by current popularity — by then the early window is closed.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 could train a classifier — but at T we don't have labels yet. Using future data is leakage. So we ask a different question: which repos behave unusually now? That's anomaly detection.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Eighteen months of GitHub activity — 44.7 million event records across 10.4 million repositories.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 freeze at T = January 1st 2024. From 10.4 million repos, we filter to 3.25 million early-stage.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Features come from before T. Success is measured after T. Strict separation.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Ten features per repo — four raw counts and six derived growth ratios. Most repos show near-zero values. The rare anomalies stand 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Three detectors with different principles: Isolation Forest, LOF, DBSCAN. A repo is flagged if at least two of three agree. That's our ensemble — 1,320 repositories out of 3.25 million.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success criterion was 30%. Isolation Forest hits 32.5%. DBSCAN — 48%. Ensemble — 45%. All three pass. Lift is 197 times over random selection.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Precision-at-K is the most actionable metric. At the top ten, eighty percent really did become high-growth. At the top fifty — ninety-two percent.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Real repositories our model flagged before T. Nine stars to 1,004. Fifty-seven to 799. Found in December — well known by June.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First — 89% of successes start from silence and are undetectable from pre-T features. Second — the simple star-growth baseline matches our precision at fixed budget; our edge is ranking quality. Third — the success threshold is a design choice.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Next steps: longer label window, raw event data, deployment pipeline. Code, data, and the full report at the GitHub link below. Thank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000" b="1">
                <a:solidFill>
                  <a:srgbClr val="8C95A1"/>
                </a:solidFill>
                <a:latin typeface="Segoe UI Semibold" panose="020B0702040204020203"/>
              </a:defRPr>
            </a:pPr>
            <a:r>
              <a:t>TEAM A   ·   DATA MINING   ·   INNOPOLIS UNIVERSITY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0584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7200">
                <a:solidFill>
                  <a:srgbClr val="0F141F"/>
                </a:solidFill>
                <a:latin typeface="Segoe UI Light" panose="020B0502040204020203"/>
              </a:defRPr>
            </a:pPr>
            <a:r>
              <a:t>High-Growth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926080"/>
            <a:ext cx="100584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7200">
                <a:solidFill>
                  <a:srgbClr val="0F141F"/>
                </a:solidFill>
                <a:latin typeface="Segoe UI Light" panose="020B0502040204020203"/>
              </a:defRPr>
            </a:pPr>
            <a:r>
              <a:t>Repositories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49039"/>
            <a:ext cx="100584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7200">
                <a:solidFill>
                  <a:srgbClr val="C0392B"/>
                </a:solidFill>
                <a:latin typeface="Segoe UI Light" panose="020B0502040204020203"/>
              </a:defRPr>
            </a:pPr>
            <a:r>
              <a:t>Detection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029200"/>
            <a:ext cx="2286000" cy="18288"/>
          </a:xfrm>
          <a:prstGeom prst="rect">
            <a:avLst/>
          </a:prstGeom>
          <a:solidFill>
            <a:srgbClr val="0F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21208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800">
                <a:solidFill>
                  <a:srgbClr val="8C95A1"/>
                </a:solidFill>
                <a:latin typeface="Segoe UI" panose="020B0502040204020203"/>
              </a:defRPr>
            </a:pPr>
            <a:r>
              <a:t>Early detection of GitHub stars before they shine.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000" b="1">
                <a:solidFill>
                  <a:srgbClr val="8C95A1"/>
                </a:solidFill>
                <a:latin typeface="Segoe UI Semibold" panose="020B0702040204020203"/>
              </a:defRPr>
            </a:pPr>
            <a:r>
              <a:t>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000" b="1">
                <a:solidFill>
                  <a:srgbClr val="8C95A1"/>
                </a:solidFill>
                <a:latin typeface="Segoe UI Semibold" panose="020B0702040204020203"/>
              </a:defRPr>
            </a:pPr>
            <a:r>
              <a:t>DECEMBER 2023   →   JUNE 2024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5755" y="2065655"/>
            <a:ext cx="5029200" cy="2308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32000">
                <a:solidFill>
                  <a:srgbClr val="C8CDD4"/>
                </a:solidFill>
                <a:latin typeface="Segoe UI Light" panose="020B0502040204020203"/>
              </a:defRPr>
            </a:pPr>
            <a:r>
              <a:rPr sz="15000"/>
              <a:t>9</a:t>
            </a:r>
            <a:endParaRPr sz="15000"/>
          </a:p>
        </p:txBody>
      </p:sp>
      <p:sp>
        <p:nvSpPr>
          <p:cNvPr id="4" name="TextBox 3"/>
          <p:cNvSpPr txBox="1"/>
          <p:nvPr/>
        </p:nvSpPr>
        <p:spPr>
          <a:xfrm>
            <a:off x="3977640" y="2217420"/>
            <a:ext cx="192024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12000">
                <a:solidFill>
                  <a:srgbClr val="0F141F"/>
                </a:solidFill>
                <a:latin typeface="Segoe UI Light" panose="020B0502040204020203"/>
              </a:defRPr>
            </a:pPr>
            <a:r>
              <a:t>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0" y="2065655"/>
            <a:ext cx="5029200" cy="2308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24000">
                <a:solidFill>
                  <a:srgbClr val="C0392B"/>
                </a:solidFill>
                <a:latin typeface="Segoe UI Light" panose="020B0502040204020203"/>
              </a:defRPr>
            </a:pPr>
            <a:r>
              <a:rPr sz="15000"/>
              <a:t>1,004</a:t>
            </a:r>
            <a:endParaRPr sz="15000"/>
          </a:p>
        </p:txBody>
      </p:sp>
      <p:sp>
        <p:nvSpPr>
          <p:cNvPr id="6" name="Rectangle 5"/>
          <p:cNvSpPr/>
          <p:nvPr/>
        </p:nvSpPr>
        <p:spPr>
          <a:xfrm>
            <a:off x="5029200" y="5669280"/>
            <a:ext cx="2103120" cy="18288"/>
          </a:xfrm>
          <a:prstGeom prst="rect">
            <a:avLst/>
          </a:prstGeom>
          <a:solidFill>
            <a:srgbClr val="0F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806440"/>
            <a:ext cx="1054577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1800">
                <a:solidFill>
                  <a:srgbClr val="333D4A"/>
                </a:solidFill>
                <a:latin typeface="Segoe UI" panose="020B0502040204020203"/>
              </a:defRPr>
            </a:pPr>
            <a:r>
              <a:t>stars in six months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26364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1100">
                <a:solidFill>
                  <a:srgbClr val="8C95A1"/>
                </a:solidFill>
                <a:latin typeface="Segoe UI" panose="020B0502040204020203"/>
              </a:defRPr>
            </a:pPr>
            <a:r>
              <a:t>linyuchen / LiteLoaderQQNT-OneBotApi    ·    flagged by our model in advance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44652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defRPr sz="1000">
                <a:solidFill>
                  <a:srgbClr val="8C95A1"/>
                </a:solidFill>
                <a:latin typeface="Segoe UI" panose="020B0502040204020203"/>
              </a:defRPr>
            </a:pPr>
            <a:r>
              <a:t>02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4577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400" b="1">
                <a:solidFill>
                  <a:srgbClr val="0F141F"/>
                </a:solidFill>
                <a:latin typeface="Segoe UI Semibold" panose="020B0702040204020203"/>
              </a:defRPr>
            </a:pPr>
            <a: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143000"/>
            <a:ext cx="457200" cy="228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400">
                <a:solidFill>
                  <a:srgbClr val="0F141F"/>
                </a:solidFill>
                <a:latin typeface="Segoe UI Light" panose="020B0502040204020203"/>
              </a:defRPr>
            </a:pPr>
            <a:r>
              <a:t>GitHub has a hundred million repositories.</a:t>
            </a:r>
          </a:p>
          <a:p>
            <a:pPr algn="l">
              <a:defRPr sz="2400">
                <a:solidFill>
                  <a:srgbClr val="0F141F"/>
                </a:solidFill>
                <a:latin typeface="Segoe UI Light" panose="020B0502040204020203"/>
              </a:defRPr>
            </a:pPr>
            <a:r>
              <a:t>Thousands are created every day. Most never get traction.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383280"/>
            <a:ext cx="10545775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800">
                <a:solidFill>
                  <a:srgbClr val="333D4A"/>
                </a:solidFill>
                <a:latin typeface="Segoe UI" panose="020B0502040204020203"/>
              </a:defRPr>
            </a:pPr>
            <a:r>
              <a:t>Investors, recruiters, and developer-tools companies want to find</a:t>
            </a:r>
          </a:p>
          <a:p>
            <a:pPr algn="l">
              <a:defRPr sz="1800">
                <a:solidFill>
                  <a:srgbClr val="333D4A"/>
                </a:solidFill>
                <a:latin typeface="Segoe UI" panose="020B0502040204020203"/>
              </a:defRPr>
            </a:pPr>
            <a:r>
              <a:t>the small fraction that will succeed —</a:t>
            </a:r>
          </a:p>
          <a:p>
            <a:pPr algn="l">
              <a:defRPr sz="1800">
                <a:solidFill>
                  <a:srgbClr val="333D4A"/>
                </a:solidFill>
                <a:latin typeface="Segoe UI" panose="020B0502040204020203"/>
              </a:defRPr>
            </a:pPr>
            <a:r>
              <a:t>before they go mainstream.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120640"/>
            <a:ext cx="1054577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600" b="1">
                <a:solidFill>
                  <a:srgbClr val="C0392B"/>
                </a:solidFill>
                <a:latin typeface="Segoe UI Semibold" panose="020B0702040204020203"/>
              </a:defRPr>
            </a:pPr>
            <a:r>
              <a:t>Existing tools rank by current popularity. By then, the early window is closed.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4652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defRPr sz="1000">
                <a:solidFill>
                  <a:srgbClr val="8C95A1"/>
                </a:solidFill>
                <a:latin typeface="Segoe UI" panose="020B0502040204020203"/>
              </a:defRPr>
            </a:pPr>
            <a:r>
              <a:t>03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4577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400" b="1">
                <a:solidFill>
                  <a:srgbClr val="0F141F"/>
                </a:solidFill>
                <a:latin typeface="Segoe UI Semibold" panose="020B0702040204020203"/>
              </a:defRPr>
            </a:pPr>
            <a:r>
              <a:t>Why anomaly detection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143000"/>
            <a:ext cx="457200" cy="228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5486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800">
                <a:solidFill>
                  <a:srgbClr val="C0392B"/>
                </a:solidFill>
                <a:latin typeface="Segoe UI Light" panose="020B0502040204020203"/>
              </a:defRPr>
            </a:pPr>
            <a:r>
              <a:t>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828800"/>
            <a:ext cx="4114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400" b="1">
                <a:solidFill>
                  <a:srgbClr val="0F141F"/>
                </a:solidFill>
                <a:latin typeface="Segoe UI Semibold" panose="020B0702040204020203"/>
              </a:defRPr>
            </a:pPr>
            <a:r>
              <a:t>Classifier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43200"/>
            <a:ext cx="5029200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600">
                <a:solidFill>
                  <a:srgbClr val="333D4A"/>
                </a:solidFill>
                <a:latin typeface="Segoe UI" panose="020B0502040204020203"/>
              </a:defRPr>
            </a:pPr>
            <a:r>
              <a:t>Needs labels at the time of prediction.</a:t>
            </a:r>
          </a:p>
          <a:p>
            <a:pPr algn="l">
              <a:defRPr sz="1600">
                <a:solidFill>
                  <a:srgbClr val="333D4A"/>
                </a:solidFill>
                <a:latin typeface="Segoe UI" panose="020B0502040204020203"/>
              </a:defRPr>
            </a:pPr>
            <a:r>
              <a:t>At T we don't yet know who succeeds.</a:t>
            </a:r>
          </a:p>
          <a:p>
            <a:pPr algn="l">
              <a:defRPr sz="1600">
                <a:solidFill>
                  <a:srgbClr val="333D4A"/>
                </a:solidFill>
                <a:latin typeface="Segoe UI" panose="020B0502040204020203"/>
              </a:defRPr>
            </a:pPr>
            <a:r>
              <a:t>Using future data to train = leakage.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89320" y="1828800"/>
            <a:ext cx="10972" cy="3200400"/>
          </a:xfrm>
          <a:prstGeom prst="rect">
            <a:avLst/>
          </a:prstGeom>
          <a:solidFill>
            <a:srgbClr val="E2E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63640" y="1828800"/>
            <a:ext cx="5486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800">
                <a:solidFill>
                  <a:srgbClr val="0F141F"/>
                </a:solidFill>
                <a:latin typeface="Segoe UI Light" panose="020B0502040204020203"/>
              </a:defRPr>
            </a:pPr>
            <a: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1828800"/>
            <a:ext cx="5029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400" b="1">
                <a:solidFill>
                  <a:srgbClr val="0F141F"/>
                </a:solidFill>
                <a:latin typeface="Segoe UI Semibold" panose="020B0702040204020203"/>
              </a:defRPr>
            </a:pPr>
            <a:r>
              <a:t>Anomaly 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2743200"/>
            <a:ext cx="5303520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600">
                <a:solidFill>
                  <a:srgbClr val="333D4A"/>
                </a:solidFill>
                <a:latin typeface="Segoe UI" panose="020B0502040204020203"/>
              </a:defRPr>
            </a:pPr>
            <a:r>
              <a:t>Asks: which repos behave unusually now,</a:t>
            </a:r>
          </a:p>
          <a:p>
            <a:pPr algn="l">
              <a:defRPr sz="1600">
                <a:solidFill>
                  <a:srgbClr val="333D4A"/>
                </a:solidFill>
                <a:latin typeface="Segoe UI" panose="020B0502040204020203"/>
              </a:defRPr>
            </a:pPr>
            <a:r>
              <a:t>compared to three million peers?</a:t>
            </a:r>
          </a:p>
          <a:p>
            <a:pPr algn="l">
              <a:defRPr sz="1600">
                <a:solidFill>
                  <a:srgbClr val="333D4A"/>
                </a:solidFill>
                <a:latin typeface="Segoe UI" panose="020B0502040204020203"/>
              </a:defRPr>
            </a:pPr>
            <a:r>
              <a:t>No labels needed. Pseudo-labels validate post-hoc.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11535" y="644652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defRPr sz="1000">
                <a:solidFill>
                  <a:srgbClr val="8C95A1"/>
                </a:solidFill>
                <a:latin typeface="Segoe UI" panose="020B0502040204020203"/>
              </a:defRPr>
            </a:pPr>
            <a:r>
              <a:t>04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4577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400" b="1">
                <a:solidFill>
                  <a:srgbClr val="0F141F"/>
                </a:solidFill>
                <a:latin typeface="Segoe UI Semibold" panose="020B0702040204020203"/>
              </a:defRPr>
            </a:pPr>
            <a:r>
              <a:t>The data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143000"/>
            <a:ext cx="457200" cy="228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3200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4800">
                <a:solidFill>
                  <a:srgbClr val="0F141F"/>
                </a:solidFill>
                <a:latin typeface="Segoe UI Light" panose="020B0502040204020203"/>
              </a:defRPr>
            </a:pPr>
            <a:r>
              <a:t>44.7M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7744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200" b="1">
                <a:solidFill>
                  <a:srgbClr val="8C95A1"/>
                </a:solidFill>
                <a:latin typeface="Segoe UI Semibold" panose="020B0702040204020203"/>
              </a:defRPr>
            </a:pPr>
            <a:r>
              <a:t>event records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554480"/>
            <a:ext cx="3200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4800">
                <a:solidFill>
                  <a:srgbClr val="0F141F"/>
                </a:solidFill>
                <a:latin typeface="Segoe UI Light" panose="020B0502040204020203"/>
              </a:defRPr>
            </a:pPr>
            <a:r>
              <a:t>10.4M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237744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200" b="1">
                <a:solidFill>
                  <a:srgbClr val="8C95A1"/>
                </a:solidFill>
                <a:latin typeface="Segoe UI Semibold" panose="020B0702040204020203"/>
              </a:defRPr>
            </a:pPr>
            <a:r>
              <a:t>repositories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1554480"/>
            <a:ext cx="3200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4800">
                <a:solidFill>
                  <a:srgbClr val="0F141F"/>
                </a:solidFill>
                <a:latin typeface="Segoe UI Light" panose="020B0502040204020203"/>
              </a:defRPr>
            </a:pPr>
            <a:r>
              <a:t>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237744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200" b="1">
                <a:solidFill>
                  <a:srgbClr val="8C95A1"/>
                </a:solidFill>
                <a:latin typeface="Segoe UI Semibold" panose="020B0702040204020203"/>
              </a:defRPr>
            </a:pPr>
            <a:r>
              <a:t>months</a:t>
            </a:r>
          </a:p>
        </p:txBody>
      </p:sp>
      <p:pic>
        <p:nvPicPr>
          <p:cNvPr id="10" name="Picture 9" descr="event_type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68880" y="3108960"/>
            <a:ext cx="7315200" cy="4510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22960" y="6400800"/>
            <a:ext cx="1054577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1100">
                <a:solidFill>
                  <a:srgbClr val="8C95A1"/>
                </a:solidFill>
                <a:latin typeface="Segoe UI" panose="020B0502040204020203"/>
              </a:defRPr>
            </a:pPr>
            <a:r>
              <a:t>GH Archive via BigQuery   ·   10% sample   ·   Jan 2023 — Jun 2024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11535" y="644652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defRPr sz="1000">
                <a:solidFill>
                  <a:srgbClr val="8C95A1"/>
                </a:solidFill>
                <a:latin typeface="Segoe UI" panose="020B0502040204020203"/>
              </a:defRPr>
            </a:pPr>
            <a:r>
              <a:t>05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4577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400" b="1">
                <a:solidFill>
                  <a:srgbClr val="0F141F"/>
                </a:solidFill>
                <a:latin typeface="Segoe UI Semibold" panose="020B0702040204020203"/>
              </a:defRPr>
            </a:pPr>
            <a:r>
              <a:t>From 10.4M to 3.25M early-stage repos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143000"/>
            <a:ext cx="457200" cy="228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unnel_ful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4560" y="1463040"/>
            <a:ext cx="7772400" cy="380421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6400800"/>
            <a:ext cx="1054577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1100">
                <a:solidFill>
                  <a:srgbClr val="8C95A1"/>
                </a:solidFill>
                <a:latin typeface="Segoe UI" panose="020B0502040204020203"/>
              </a:defRPr>
            </a:pPr>
            <a:r>
              <a:t>T = 2024-01-01    ·    age &lt; 180 days    ·    stars &lt; 100    ·    contributors &lt;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644652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defRPr sz="1000">
                <a:solidFill>
                  <a:srgbClr val="8C95A1"/>
                </a:solidFill>
                <a:latin typeface="Segoe UI" panose="020B0502040204020203"/>
              </a:defRPr>
            </a:pPr>
            <a:r>
              <a:t>06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4577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400" b="1">
                <a:solidFill>
                  <a:srgbClr val="0F141F"/>
                </a:solidFill>
                <a:latin typeface="Segoe UI Semibold" panose="020B0702040204020203"/>
              </a:defRPr>
            </a:pPr>
            <a:r>
              <a:t>Feature window vs validation window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143000"/>
            <a:ext cx="457200" cy="228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imeseries_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554480"/>
            <a:ext cx="10515600" cy="31568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6400800"/>
            <a:ext cx="1054577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1100">
                <a:solidFill>
                  <a:srgbClr val="8C95A1"/>
                </a:solidFill>
                <a:latin typeface="Segoe UI" panose="020B0502040204020203"/>
              </a:defRPr>
            </a:pPr>
            <a:r>
              <a:t>Features computed strictly before T.    Success measured in 6 months after T.    No leakage.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644652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defRPr sz="1000">
                <a:solidFill>
                  <a:srgbClr val="8C95A1"/>
                </a:solidFill>
                <a:latin typeface="Segoe UI" panose="020B0502040204020203"/>
              </a:defRPr>
            </a:pPr>
            <a:r>
              <a:t>07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4577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400" b="1">
                <a:solidFill>
                  <a:srgbClr val="0F141F"/>
                </a:solidFill>
                <a:latin typeface="Segoe UI Semibold" panose="020B0702040204020203"/>
              </a:defRPr>
            </a:pPr>
            <a:r>
              <a:t>Long-tail signals — anomalies stand out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143000"/>
            <a:ext cx="457200" cy="228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ngtail_his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554480"/>
            <a:ext cx="10515600" cy="331813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6400800"/>
            <a:ext cx="1054577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1100">
                <a:solidFill>
                  <a:srgbClr val="8C95A1"/>
                </a:solidFill>
                <a:latin typeface="Segoe UI" panose="020B0502040204020203"/>
              </a:defRPr>
            </a:pPr>
            <a:r>
              <a:t>10 features per repo   ·   4 raw counts   +   6 derived growth ratios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644652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defRPr sz="1000">
                <a:solidFill>
                  <a:srgbClr val="8C95A1"/>
                </a:solidFill>
                <a:latin typeface="Segoe UI" panose="020B0502040204020203"/>
              </a:defRPr>
            </a:pPr>
            <a:r>
              <a:t>08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4577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400" b="1">
                <a:solidFill>
                  <a:srgbClr val="0F141F"/>
                </a:solidFill>
                <a:latin typeface="Segoe UI Semibold" panose="020B0702040204020203"/>
              </a:defRPr>
            </a:pPr>
            <a:r>
              <a:t>Three detectors  →  ensemble vote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143000"/>
            <a:ext cx="457200" cy="228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200" b="1">
                <a:solidFill>
                  <a:srgbClr val="C0392B"/>
                </a:solidFill>
                <a:latin typeface="Segoe UI Semibold" panose="020B0702040204020203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4028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200" b="1">
                <a:solidFill>
                  <a:srgbClr val="0F141F"/>
                </a:solidFill>
                <a:latin typeface="Segoe UI Semibold" panose="020B0702040204020203"/>
              </a:defRPr>
            </a:pPr>
            <a:r>
              <a:t>Isolation Forest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834640"/>
            <a:ext cx="32004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500">
                <a:solidFill>
                  <a:srgbClr val="333D4A"/>
                </a:solidFill>
                <a:latin typeface="Segoe UI" panose="020B0502040204020203"/>
              </a:defRPr>
            </a:pPr>
            <a:r>
              <a:t>Random partitioning</a:t>
            </a:r>
          </a:p>
          <a:p>
            <a:pPr algn="l">
              <a:defRPr sz="1500">
                <a:solidFill>
                  <a:srgbClr val="333D4A"/>
                </a:solidFill>
                <a:latin typeface="Segoe UI" panose="020B0502040204020203"/>
              </a:defRPr>
            </a:pPr>
            <a:r>
              <a:t>isolates outliers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02336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00">
                <a:solidFill>
                  <a:srgbClr val="8C95A1"/>
                </a:solidFill>
                <a:latin typeface="Segoe UI" panose="020B0502040204020203"/>
              </a:defRPr>
            </a:pPr>
            <a:r>
              <a:t>ROC-AUC 0.811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17720" y="182880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200" b="1">
                <a:solidFill>
                  <a:srgbClr val="C0392B"/>
                </a:solidFill>
                <a:latin typeface="Segoe UI Semibold" panose="020B0702040204020203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224028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200" b="1">
                <a:solidFill>
                  <a:srgbClr val="0F141F"/>
                </a:solidFill>
                <a:latin typeface="Segoe UI Semibold" panose="020B0702040204020203"/>
              </a:defRPr>
            </a:pPr>
            <a:r>
              <a:t>Local Outlier Factor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834640"/>
            <a:ext cx="32004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500">
                <a:solidFill>
                  <a:srgbClr val="333D4A"/>
                </a:solidFill>
                <a:latin typeface="Segoe UI" panose="020B0502040204020203"/>
              </a:defRPr>
            </a:pPr>
            <a:r>
              <a:t>Local density</a:t>
            </a:r>
          </a:p>
          <a:p>
            <a:pPr algn="l">
              <a:defRPr sz="1500">
                <a:solidFill>
                  <a:srgbClr val="333D4A"/>
                </a:solidFill>
                <a:latin typeface="Segoe UI" panose="020B0502040204020203"/>
              </a:defRPr>
            </a:pPr>
            <a:r>
              <a:t>vs neighbors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402336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00">
                <a:solidFill>
                  <a:srgbClr val="8C95A1"/>
                </a:solidFill>
                <a:latin typeface="Segoe UI" panose="020B0502040204020203"/>
              </a:defRPr>
            </a:pPr>
            <a:r>
              <a:t>Catches local anomalies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182880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200" b="1">
                <a:solidFill>
                  <a:srgbClr val="C0392B"/>
                </a:solidFill>
                <a:latin typeface="Segoe UI Semibold" panose="020B0702040204020203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24028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200" b="1">
                <a:solidFill>
                  <a:srgbClr val="0F141F"/>
                </a:solidFill>
                <a:latin typeface="Segoe UI Semibold" panose="020B0702040204020203"/>
              </a:defRPr>
            </a:pPr>
            <a:r>
              <a:t>DBSCAN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834640"/>
            <a:ext cx="32004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500">
                <a:solidFill>
                  <a:srgbClr val="333D4A"/>
                </a:solidFill>
                <a:latin typeface="Segoe UI" panose="020B0502040204020203"/>
              </a:defRPr>
            </a:pPr>
            <a:r>
              <a:t>Noise points in</a:t>
            </a:r>
          </a:p>
          <a:p>
            <a:pPr algn="l">
              <a:defRPr sz="1500">
                <a:solidFill>
                  <a:srgbClr val="333D4A"/>
                </a:solidFill>
                <a:latin typeface="Segoe UI" panose="020B0502040204020203"/>
              </a:defRPr>
            </a:pPr>
            <a:r>
              <a:t>low-density regions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402336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00">
                <a:solidFill>
                  <a:srgbClr val="8C95A1"/>
                </a:solidFill>
                <a:latin typeface="Segoe UI" panose="020B0502040204020203"/>
              </a:defRPr>
            </a:pPr>
            <a:r>
              <a:t>48% precision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4663440"/>
            <a:ext cx="10515600" cy="10972"/>
          </a:xfrm>
          <a:prstGeom prst="rect">
            <a:avLst/>
          </a:prstGeom>
          <a:solidFill>
            <a:srgbClr val="E2E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52160" y="4754880"/>
            <a:ext cx="5486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3600">
                <a:solidFill>
                  <a:srgbClr val="C0392B"/>
                </a:solidFill>
                <a:latin typeface="Segoe UI Light" panose="020B0502040204020203"/>
              </a:defRPr>
            </a:pPr>
            <a:r>
              <a:t>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486400"/>
            <a:ext cx="1054577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1200" b="1">
                <a:solidFill>
                  <a:srgbClr val="8C95A1"/>
                </a:solidFill>
                <a:latin typeface="Segoe UI Semibold" panose="020B0702040204020203"/>
              </a:defRPr>
            </a:pPr>
            <a:r>
              <a:t>ENSEMBLE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852160"/>
            <a:ext cx="1054577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1800">
                <a:solidFill>
                  <a:srgbClr val="0F141F"/>
                </a:solidFill>
                <a:latin typeface="Segoe UI Light" panose="020B0502040204020203"/>
              </a:defRPr>
            </a:pPr>
            <a:r>
              <a:t>Flagged if at least 2 of 3 methods agree   ·   1,320 repositories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11535" y="644652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defRPr sz="1000">
                <a:solidFill>
                  <a:srgbClr val="8C95A1"/>
                </a:solidFill>
                <a:latin typeface="Segoe UI" panose="020B0502040204020203"/>
              </a:defRPr>
            </a:pPr>
            <a:r>
              <a:t>09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4577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400" b="1">
                <a:solidFill>
                  <a:srgbClr val="0F141F"/>
                </a:solidFill>
                <a:latin typeface="Segoe UI Semibold" panose="020B0702040204020203"/>
              </a:defRPr>
            </a:pPr>
            <a:r>
              <a:t>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143000"/>
            <a:ext cx="457200" cy="228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000" b="1">
                <a:solidFill>
                  <a:srgbClr val="8C95A1"/>
                </a:solidFill>
                <a:latin typeface="Segoe UI Semibold" panose="020B0702040204020203"/>
              </a:defRPr>
            </a:pPr>
            <a:r>
              <a:t>SUCCESS CRITERION WAS 30% PRECISION   ·   ALL THREE METHODS PASS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6400800" cy="2308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0000">
                <a:solidFill>
                  <a:srgbClr val="C0392B"/>
                </a:solidFill>
                <a:latin typeface="Segoe UI Light" panose="020B0502040204020203"/>
              </a:defRPr>
            </a:pPr>
            <a:r>
              <a:rPr sz="15000"/>
              <a:t>32.5%</a:t>
            </a:r>
            <a:endParaRPr sz="15000"/>
          </a:p>
        </p:txBody>
      </p:sp>
      <p:sp>
        <p:nvSpPr>
          <p:cNvPr id="6" name="TextBox 5"/>
          <p:cNvSpPr txBox="1"/>
          <p:nvPr/>
        </p:nvSpPr>
        <p:spPr>
          <a:xfrm>
            <a:off x="822960" y="4572000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800" b="1">
                <a:solidFill>
                  <a:srgbClr val="0F141F"/>
                </a:solidFill>
                <a:latin typeface="Segoe UI Semibold" panose="020B0702040204020203"/>
              </a:defRPr>
            </a:pPr>
            <a:r>
              <a:t>precision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029200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300">
                <a:solidFill>
                  <a:srgbClr val="8C95A1"/>
                </a:solidFill>
                <a:latin typeface="Segoe UI" panose="020B0502040204020203"/>
              </a:defRPr>
            </a:pPr>
            <a:r>
              <a:t>Isolation Forest, contamination = 0.05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79" y="2286000"/>
            <a:ext cx="10972" cy="3200400"/>
          </a:xfrm>
          <a:prstGeom prst="rect">
            <a:avLst/>
          </a:prstGeom>
          <a:solidFill>
            <a:srgbClr val="E2E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0" y="2286000"/>
            <a:ext cx="41148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7200">
                <a:solidFill>
                  <a:srgbClr val="0F141F"/>
                </a:solidFill>
                <a:latin typeface="Segoe UI Light" panose="020B0502040204020203"/>
              </a:defRPr>
            </a:pPr>
            <a:r>
              <a:t>197×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324612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200">
                <a:solidFill>
                  <a:srgbClr val="8C95A1"/>
                </a:solidFill>
                <a:latin typeface="Segoe UI" panose="020B0502040204020203"/>
              </a:defRPr>
            </a:pPr>
            <a:r>
              <a:t>lift over random  ·  base rate 0.17%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3931920"/>
            <a:ext cx="41148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7200">
                <a:solidFill>
                  <a:srgbClr val="0F141F"/>
                </a:solidFill>
                <a:latin typeface="Segoe UI Light" panose="020B0502040204020203"/>
              </a:defRPr>
            </a:pPr>
            <a:r>
              <a:t>0.811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489204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200">
                <a:solidFill>
                  <a:srgbClr val="8C95A1"/>
                </a:solidFill>
                <a:latin typeface="Segoe UI" panose="020B0502040204020203"/>
              </a:defRPr>
            </a:pPr>
            <a:r>
              <a:t>ROC-AUC  ·  vs 0.620 baseline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5943600"/>
            <a:ext cx="10545775" cy="10972"/>
          </a:xfrm>
          <a:prstGeom prst="rect">
            <a:avLst/>
          </a:prstGeom>
          <a:solidFill>
            <a:srgbClr val="E2E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608076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1200">
                <a:solidFill>
                  <a:srgbClr val="8C95A1"/>
                </a:solidFill>
                <a:latin typeface="Segoe UI" panose="020B0502040204020203"/>
              </a:defRPr>
            </a:pPr>
            <a:r>
              <a:t>DBSCAN: 48% precision   ·   Ensemble: 45%   ·   2,871 repos flagged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11535" y="644652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defRPr sz="1000">
                <a:solidFill>
                  <a:srgbClr val="8C95A1"/>
                </a:solidFill>
                <a:latin typeface="Segoe UI" panose="020B0502040204020203"/>
              </a:defRPr>
            </a:pPr>
            <a: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4577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400" b="1">
                <a:solidFill>
                  <a:srgbClr val="0F141F"/>
                </a:solidFill>
                <a:latin typeface="Segoe UI Semibold" panose="020B0702040204020203"/>
              </a:defRPr>
            </a:pPr>
            <a:r>
              <a:t>Top-ranked repos really do succeed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143000"/>
            <a:ext cx="457200" cy="228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69748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200" b="1">
                <a:solidFill>
                  <a:srgbClr val="8C95A1"/>
                </a:solidFill>
                <a:latin typeface="Segoe UI Semibold" panose="020B0702040204020203"/>
              </a:defRPr>
            </a:pPr>
            <a:r>
              <a:t>P@10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19"/>
            <a:ext cx="1828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5600">
                <a:solidFill>
                  <a:srgbClr val="0F141F"/>
                </a:solidFill>
                <a:latin typeface="Segoe UI Light" panose="020B0502040204020203"/>
              </a:defRPr>
            </a:pPr>
            <a:r>
              <a:t>0.80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06660" y="265176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200" b="1">
                <a:solidFill>
                  <a:srgbClr val="8C95A1"/>
                </a:solidFill>
                <a:latin typeface="Segoe UI Semibold" panose="020B0702040204020203"/>
              </a:defRPr>
            </a:pPr>
            <a:r>
              <a:t>P@50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06660" y="2971799"/>
            <a:ext cx="1828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5600">
                <a:solidFill>
                  <a:srgbClr val="C0392B"/>
                </a:solidFill>
                <a:latin typeface="Segoe UI Light" panose="020B0502040204020203"/>
              </a:defRPr>
            </a:pPr>
            <a:r>
              <a:t>0.92</a:t>
            </a:r>
          </a:p>
        </p:txBody>
      </p:sp>
      <p:pic>
        <p:nvPicPr>
          <p:cNvPr id="8" name="Picture 7" descr="mod_cell36_img8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30425" y="1143000"/>
            <a:ext cx="7589520" cy="540937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6400800"/>
            <a:ext cx="1054577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1100">
                <a:solidFill>
                  <a:srgbClr val="8C95A1"/>
                </a:solidFill>
                <a:latin typeface="Segoe UI" panose="020B0502040204020203"/>
              </a:defRPr>
            </a:pPr>
            <a:r>
              <a:t>An analyst reviewing the top 50 IF-ranked repos finds ~46 future high-growth projects.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11535" y="644652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defRPr sz="1000">
                <a:solidFill>
                  <a:srgbClr val="8C95A1"/>
                </a:solidFill>
                <a:latin typeface="Segoe UI" panose="020B0502040204020203"/>
              </a:defRPr>
            </a:pPr>
            <a: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4577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400" b="1">
                <a:solidFill>
                  <a:srgbClr val="0F141F"/>
                </a:solidFill>
                <a:latin typeface="Segoe UI Semibold" panose="020B0702040204020203"/>
              </a:defRPr>
            </a:pPr>
            <a:r>
              <a:t>Real repos we flagged in December — exploded by June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143000"/>
            <a:ext cx="457200" cy="228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od_cell56_img1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278255"/>
            <a:ext cx="8145780" cy="544258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11535" y="644652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defRPr sz="1000">
                <a:solidFill>
                  <a:srgbClr val="8C95A1"/>
                </a:solidFill>
                <a:latin typeface="Segoe UI" panose="020B0502040204020203"/>
              </a:defRPr>
            </a:pPr>
            <a: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4577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400" b="1">
                <a:solidFill>
                  <a:srgbClr val="0F141F"/>
                </a:solidFill>
                <a:latin typeface="Segoe UI Semibold" panose="020B0702040204020203"/>
              </a:defRPr>
            </a:pPr>
            <a:r>
              <a:t>What this does NOT do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143000"/>
            <a:ext cx="457200" cy="228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914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3600">
                <a:solidFill>
                  <a:srgbClr val="C0392B"/>
                </a:solidFill>
                <a:latin typeface="Segoe UI Light" panose="020B0502040204020203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1554480"/>
            <a:ext cx="9418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000" b="1">
                <a:solidFill>
                  <a:srgbClr val="0F141F"/>
                </a:solidFill>
                <a:latin typeface="Segoe UI Semibold" panose="020B0702040204020203"/>
              </a:defRPr>
            </a:pPr>
            <a:r>
              <a:t>We catch early signals — not zero-to-one breakouts.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2057400"/>
            <a:ext cx="94183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400">
                <a:solidFill>
                  <a:srgbClr val="333D4A"/>
                </a:solidFill>
                <a:latin typeface="Segoe UI" panose="020B0502040204020203"/>
              </a:defRPr>
            </a:pPr>
            <a:r>
              <a:t>Repositories that grew from absolute zero have no pre-T signal. That's 89% of the successes we missed — a fundamental constraint, not a modeling failure.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063240"/>
            <a:ext cx="914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3600">
                <a:solidFill>
                  <a:srgbClr val="C0392B"/>
                </a:solidFill>
                <a:latin typeface="Segoe UI Light" panose="020B0502040204020203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3063240"/>
            <a:ext cx="9418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000" b="1">
                <a:solidFill>
                  <a:srgbClr val="0F141F"/>
                </a:solidFill>
                <a:latin typeface="Segoe UI Semibold" panose="020B0702040204020203"/>
              </a:defRPr>
            </a:pPr>
            <a:r>
              <a:t>Single-feature baseline matches our precision.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3566160"/>
            <a:ext cx="94183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400">
                <a:solidFill>
                  <a:srgbClr val="333D4A"/>
                </a:solidFill>
                <a:latin typeface="Segoe UI" panose="020B0502040204020203"/>
              </a:defRPr>
            </a:pPr>
            <a:r>
              <a:t>At fixed budget, a star_growth ranker achieves nearly the same precision. Our advantage is in ranking quality at short list sizes (P@k), not bulk classification.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914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3600">
                <a:solidFill>
                  <a:srgbClr val="C0392B"/>
                </a:solidFill>
                <a:latin typeface="Segoe UI Light" panose="020B0502040204020203"/>
              </a:defRPr>
            </a:pPr>
            <a: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4572000"/>
            <a:ext cx="9418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000" b="1">
                <a:solidFill>
                  <a:srgbClr val="0F141F"/>
                </a:solidFill>
                <a:latin typeface="Segoe UI Semibold" panose="020B0702040204020203"/>
              </a:defRPr>
            </a:pPr>
            <a:r>
              <a:t>The success label is a design choice.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5074920"/>
            <a:ext cx="94183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400">
                <a:solidFill>
                  <a:srgbClr val="333D4A"/>
                </a:solidFill>
                <a:latin typeface="Segoe UI" panose="020B0502040204020203"/>
              </a:defRPr>
            </a:pPr>
            <a:r>
              <a:t>Our threshold — ≥10 stars or ≥1.5× growth in 6 months — was calibrated to the data. Different thresholds give different numbers.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11535" y="644652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defRPr sz="1000">
                <a:solidFill>
                  <a:srgbClr val="8C95A1"/>
                </a:solidFill>
                <a:latin typeface="Segoe UI" panose="020B0502040204020203"/>
              </a:defRPr>
            </a:pPr>
            <a: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4577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400" b="1">
                <a:solidFill>
                  <a:srgbClr val="0F141F"/>
                </a:solidFill>
                <a:latin typeface="Segoe UI Semibold" panose="020B0702040204020203"/>
              </a:defRPr>
            </a:pPr>
            <a:r>
              <a:t>What's next   ·   Team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143000"/>
            <a:ext cx="457200" cy="228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200" b="1">
                <a:solidFill>
                  <a:srgbClr val="8C95A1"/>
                </a:solidFill>
                <a:latin typeface="Segoe UI Semibold" panose="020B0702040204020203"/>
              </a:defRPr>
            </a:pPr>
            <a:r>
              <a:t>Future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5212080" cy="3657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400">
                <a:solidFill>
                  <a:srgbClr val="0F141F"/>
                </a:solidFill>
                <a:latin typeface="Segoe UI" panose="020B0502040204020203"/>
              </a:defRPr>
            </a:pPr>
            <a:r>
              <a:t>Longer validation window (12–18 months)</a:t>
            </a:r>
          </a:p>
          <a:p>
            <a:pPr algn="l">
              <a:defRPr sz="1400">
                <a:solidFill>
                  <a:srgbClr val="0F141F"/>
                </a:solidFill>
                <a:latin typeface="Segoe UI" panose="020B0502040204020203"/>
              </a:defRPr>
            </a:pPr>
          </a:p>
          <a:p>
            <a:pPr algn="l">
              <a:defRPr sz="1400">
                <a:solidFill>
                  <a:srgbClr val="0F141F"/>
                </a:solidFill>
                <a:latin typeface="Segoe UI" panose="020B0502040204020203"/>
              </a:defRPr>
            </a:pPr>
            <a:r>
              <a:t>Raw event data — true unique contributors</a:t>
            </a:r>
          </a:p>
          <a:p>
            <a:pPr algn="l">
              <a:defRPr sz="1400">
                <a:solidFill>
                  <a:srgbClr val="0F141F"/>
                </a:solidFill>
                <a:latin typeface="Segoe UI" panose="020B0502040204020203"/>
              </a:defRPr>
            </a:pPr>
          </a:p>
          <a:p>
            <a:pPr algn="l">
              <a:defRPr sz="1400">
                <a:solidFill>
                  <a:srgbClr val="0F141F"/>
                </a:solidFill>
                <a:latin typeface="Segoe UI" panose="020B0502040204020203"/>
              </a:defRPr>
            </a:pPr>
            <a:r>
              <a:t>Replace LOF with HDBSCAN</a:t>
            </a:r>
          </a:p>
          <a:p>
            <a:pPr algn="l">
              <a:defRPr sz="1400">
                <a:solidFill>
                  <a:srgbClr val="0F141F"/>
                </a:solidFill>
                <a:latin typeface="Segoe UI" panose="020B0502040204020203"/>
              </a:defRPr>
            </a:pPr>
          </a:p>
          <a:p>
            <a:pPr algn="l">
              <a:defRPr sz="1400">
                <a:solidFill>
                  <a:srgbClr val="0F141F"/>
                </a:solidFill>
                <a:latin typeface="Segoe UI" panose="020B0502040204020203"/>
              </a:defRPr>
            </a:pPr>
            <a:r>
              <a:t>Active learning on top-50 verified labels</a:t>
            </a:r>
          </a:p>
          <a:p>
            <a:pPr algn="l">
              <a:defRPr sz="1400">
                <a:solidFill>
                  <a:srgbClr val="0F141F"/>
                </a:solidFill>
                <a:latin typeface="Segoe UI" panose="020B0502040204020203"/>
              </a:defRPr>
            </a:pPr>
          </a:p>
          <a:p>
            <a:pPr algn="l">
              <a:defRPr sz="1400">
                <a:solidFill>
                  <a:srgbClr val="0F141F"/>
                </a:solidFill>
                <a:latin typeface="Segoe UI" panose="020B0502040204020203"/>
              </a:defRPr>
            </a:pPr>
            <a:r>
              <a:t>Daily scoring deployment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6263640" y="1554480"/>
            <a:ext cx="10972" cy="4114800"/>
          </a:xfrm>
          <a:prstGeom prst="rect">
            <a:avLst/>
          </a:prstGeom>
          <a:solidFill>
            <a:srgbClr val="E2E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554480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200" b="1">
                <a:solidFill>
                  <a:srgbClr val="8C95A1"/>
                </a:solidFill>
                <a:latin typeface="Segoe UI Semibold" panose="020B0702040204020203"/>
              </a:defRPr>
            </a:pPr>
            <a:r>
              <a:t>Team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2103120"/>
            <a:ext cx="5212080" cy="3657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400">
                <a:solidFill>
                  <a:srgbClr val="0F141F"/>
                </a:solidFill>
                <a:latin typeface="Segoe UI" panose="020B0502040204020203"/>
              </a:defRPr>
            </a:pPr>
            <a:r>
              <a:t>Ildar Rakiev — Project Manager</a:t>
            </a:r>
          </a:p>
          <a:p>
            <a:pPr algn="l">
              <a:defRPr sz="1400">
                <a:solidFill>
                  <a:srgbClr val="0F141F"/>
                </a:solidFill>
                <a:latin typeface="Segoe UI" panose="020B0502040204020203"/>
              </a:defRPr>
            </a:pPr>
          </a:p>
          <a:p>
            <a:pPr algn="l">
              <a:defRPr sz="1400">
                <a:solidFill>
                  <a:srgbClr val="0F141F"/>
                </a:solidFill>
                <a:latin typeface="Segoe UI" panose="020B0502040204020203"/>
              </a:defRPr>
            </a:pPr>
            <a:r>
              <a:t>Azalia Alisheva — Business Unit</a:t>
            </a:r>
          </a:p>
          <a:p>
            <a:pPr algn="l">
              <a:defRPr sz="1400">
                <a:solidFill>
                  <a:srgbClr val="0F141F"/>
                </a:solidFill>
                <a:latin typeface="Segoe UI" panose="020B0502040204020203"/>
              </a:defRPr>
            </a:pPr>
          </a:p>
          <a:p>
            <a:pPr algn="l">
              <a:defRPr sz="1400">
                <a:solidFill>
                  <a:srgbClr val="0F141F"/>
                </a:solidFill>
                <a:latin typeface="Segoe UI" panose="020B0502040204020203"/>
              </a:defRPr>
            </a:pPr>
            <a:r>
              <a:t>Anisya Kochetkova — Data Scientist</a:t>
            </a:r>
          </a:p>
          <a:p>
            <a:pPr algn="l">
              <a:defRPr sz="1400">
                <a:solidFill>
                  <a:srgbClr val="0F141F"/>
                </a:solidFill>
                <a:latin typeface="Segoe UI" panose="020B0502040204020203"/>
              </a:defRPr>
            </a:pPr>
          </a:p>
          <a:p>
            <a:pPr algn="l">
              <a:defRPr sz="1400">
                <a:solidFill>
                  <a:srgbClr val="0F141F"/>
                </a:solidFill>
                <a:latin typeface="Segoe UI" panose="020B0502040204020203"/>
              </a:defRPr>
            </a:pPr>
            <a:r>
              <a:t>Salavat Faizullin — Model Developer</a:t>
            </a:r>
          </a:p>
          <a:p>
            <a:pPr algn="l">
              <a:defRPr sz="1400">
                <a:solidFill>
                  <a:srgbClr val="0F141F"/>
                </a:solidFill>
                <a:latin typeface="Segoe UI" panose="020B0502040204020203"/>
              </a:defRPr>
            </a:pPr>
          </a:p>
          <a:p>
            <a:pPr algn="l">
              <a:defRPr sz="1400">
                <a:solidFill>
                  <a:srgbClr val="0F141F"/>
                </a:solidFill>
                <a:latin typeface="Segoe UI" panose="020B0502040204020203"/>
              </a:defRPr>
            </a:pPr>
            <a:r>
              <a:t>Ilona Dziurava — Business Analyst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5897880"/>
            <a:ext cx="10545775" cy="10972"/>
          </a:xfrm>
          <a:prstGeom prst="rect">
            <a:avLst/>
          </a:prstGeom>
          <a:solidFill>
            <a:srgbClr val="E2E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035040"/>
            <a:ext cx="1054577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2200">
                <a:solidFill>
                  <a:srgbClr val="C0392B"/>
                </a:solidFill>
                <a:latin typeface="Segoe UI Light" panose="020B0502040204020203"/>
              </a:defRPr>
            </a:pPr>
            <a:r>
              <a:t>Thank you.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446520"/>
            <a:ext cx="1054577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1000">
                <a:solidFill>
                  <a:srgbClr val="8C95A1"/>
                </a:solidFill>
                <a:latin typeface="Segoe UI" panose="020B0502040204020203"/>
              </a:defRPr>
            </a:pPr>
            <a:r>
              <a:t>github.com/IldarRakiev/High-Growth-Repos-Detection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3223</Words>
  <Application>WPS Presentation</Application>
  <PresentationFormat>On-screen Show (4:3)</PresentationFormat>
  <Paragraphs>224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5" baseType="lpstr">
      <vt:lpstr>Arial</vt:lpstr>
      <vt:lpstr>SimSun</vt:lpstr>
      <vt:lpstr>Wingdings</vt:lpstr>
      <vt:lpstr>Arial</vt:lpstr>
      <vt:lpstr>Segoe UI Semibold</vt:lpstr>
      <vt:lpstr>Segoe UI Light</vt:lpstr>
      <vt:lpstr>Segoe UI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Ильдар Ракиев</cp:lastModifiedBy>
  <cp:revision>2</cp:revision>
  <dcterms:created xsi:type="dcterms:W3CDTF">2013-01-27T09:14:00Z</dcterms:created>
  <dcterms:modified xsi:type="dcterms:W3CDTF">2026-05-09T13:24:59Z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70A276F2B2C04959922EBCF8799A2FDF_12</vt:lpwstr>
  </property>
  <property fmtid="{D5CDD505-2E9C-101B-9397-08002B2CF9AE}" pid="3" name="KSOProductBuildVer">
    <vt:lpwstr>1033-12.1.0.25242</vt:lpwstr>
  </property>
</Properties>
</file>